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47"/>
  </p:normalViewPr>
  <p:slideViewPr>
    <p:cSldViewPr snapToGrid="0">
      <p:cViewPr varScale="1">
        <p:scale>
          <a:sx n="146" d="100"/>
          <a:sy n="146" d="100"/>
        </p:scale>
        <p:origin x="2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CBB467-01B1-D16D-E3E2-ADF1DA0816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AE1FC0-DB7E-EAC4-60B2-6A8F49DED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F24A8B-F4B5-EFDC-BEEB-497424C62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2E0C2-BDBD-A34F-896F-9676F273CE98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30856B-4FD7-9D18-8B8D-8501E3A55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E69B1C-0051-02CB-C8AC-3C985409F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68284-29AA-2840-ACEA-E296AB4D0A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133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0A7C51-7A3A-E4D7-002B-513E1DC7D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0170DA-B2D0-62CB-22C6-4913CF32C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4696BA-4E65-3CB6-A57A-4705794C7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2E0C2-BDBD-A34F-896F-9676F273CE98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DF412A-D361-D1BF-7CE2-5923B7EFC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0ACAA5-E6F9-FC1A-39C6-E6DCAE6D5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68284-29AA-2840-ACEA-E296AB4D0A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1484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27F59D-9FC9-07EC-3D8C-FD29CC4F9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A49C6F5-DC58-F739-0F8A-2091A2F16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6DC26F-A922-BB20-AC6A-AAA66C596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2E0C2-BDBD-A34F-896F-9676F273CE98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9D6CFB-C875-4DF2-DB1F-BAEFEB910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17C862-B28E-401D-569B-A8C3DD3AD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68284-29AA-2840-ACEA-E296AB4D0A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413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2BFE29-7CE0-6741-7014-C4930DA9F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D00D62-9A9D-89E6-1B45-034EFA780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033E6B4-AE41-A3E0-7C61-CA66FA213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BC2450F-4F5D-C5E4-8857-323B24DA0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2E0C2-BDBD-A34F-896F-9676F273CE98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8B15054-1A92-3AA9-62A5-75D6A0900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307225-B633-6468-CA38-02C3C6DFD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68284-29AA-2840-ACEA-E296AB4D0A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8707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AF4DB0-6FF2-6393-FAC8-720805046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437555-44B7-67C5-5292-794026384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23342C-1C87-3404-C875-768C78324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2328D57-7C16-903D-7F53-B6C86EEC3E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3A215DF-3EF1-18E0-397A-5E1F8DD8D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66D4F60-6B24-97D0-833B-5DE820A73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2E0C2-BDBD-A34F-896F-9676F273CE98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216AAD5-CB82-EACA-0C00-4D77378D8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C8185A2-83CA-DFAC-7F0A-7B391FEE9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68284-29AA-2840-ACEA-E296AB4D0A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3110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583626-FBB9-4928-F4C3-DA36C6707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159A966-24EF-080F-EC9F-F8498AC6E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2E0C2-BDBD-A34F-896F-9676F273CE98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3680C75-D9E4-971F-AAC8-04572D3C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0D8B47D-930B-9F12-80F4-CBDBCE524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68284-29AA-2840-ACEA-E296AB4D0A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4864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F4984DF-F8E7-2549-143D-8C71AF9A5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2E0C2-BDBD-A34F-896F-9676F273CE98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77F5A27-C6B0-F64D-580D-F8BF089C5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84CFAD1-1E2E-76F8-DCB8-0F8FBCF0C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68284-29AA-2840-ACEA-E296AB4D0A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136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A84334-014C-C706-F2AC-70BCD30D2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8EB43D-53A8-DFE9-2679-F7F03F39B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2E6444B-D95D-DB07-615F-8025EADAA0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54EAFB1-2A73-0F40-F964-182D91640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2E0C2-BDBD-A34F-896F-9676F273CE98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D84EAB-2A91-EEAB-0FD0-C78117412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5876CA-CB82-2FD3-A1BC-B2517470D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68284-29AA-2840-ACEA-E296AB4D0A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6577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2F214B-28F8-FF98-7ABE-4A8E6D43E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03AB1C9-D8AE-C935-33B0-247B725021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B6015BF-1D1F-629D-08EA-C14DE2D741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55A092-CAAC-2B2F-B644-43F3480C0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2E0C2-BDBD-A34F-896F-9676F273CE98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703ABC-5DDE-2D62-5717-680DE4460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DC5498A-4A63-9B98-7C6A-CEBE01894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68284-29AA-2840-ACEA-E296AB4D0A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2789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106E22-D0D7-E205-8544-AC75F467B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5BFD8A1-BE2E-7A6B-3A9A-826EA9BFC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A73AB7-3488-5995-FC0D-C62E6A7F6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2E0C2-BDBD-A34F-896F-9676F273CE98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A4111F-AAFB-882F-E9CB-82AF5C329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9DB2CD-5C44-00AE-63E8-633C8B285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68284-29AA-2840-ACEA-E296AB4D0A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989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1F04C41-B65B-19DD-739C-EF7CCF4C0C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23F1BC1-9F16-3995-2B5C-187DC82CC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9851E3-5C7F-8311-44E6-2484BBE3B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2E0C2-BDBD-A34F-896F-9676F273CE98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0E4901-C937-EA55-3DE3-3BCA8DE47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B04EBC-414D-67F1-B480-29C54F18B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68284-29AA-2840-ACEA-E296AB4D0A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8520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663890-45D8-0216-F7DA-2630734FB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59A718-ACF6-5A8E-1175-54FCBD515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2F8B66-3C0B-9A92-1EAC-FDAD413E0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E2E0C2-BDBD-A34F-896F-9676F273CE98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26A679-6EFE-1D7F-FC5C-4B46F324B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720DA3-C67F-FE78-C563-AD1E61221E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68284-29AA-2840-ACEA-E296AB4D0A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5295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5BA011-B3F5-8DA8-6FD3-704897085C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База данных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CB9F4A2-7F2A-89EA-BDA7-349813BDD0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2466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46288C-1B59-C448-9EA8-231C755FB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68606"/>
          </a:xfrm>
        </p:spPr>
        <p:txBody>
          <a:bodyPr>
            <a:normAutofit fontScale="90000"/>
          </a:bodyPr>
          <a:lstStyle/>
          <a:p>
            <a:r>
              <a:rPr lang="ru-RU" dirty="0"/>
              <a:t>Пусть главный врач хочет срочно узнать группу крови каждого из пациентов</a:t>
            </a:r>
            <a:r>
              <a:rPr lang="en-US" dirty="0"/>
              <a:t>, </a:t>
            </a:r>
            <a:r>
              <a:rPr lang="ru-RU" dirty="0"/>
              <a:t>которые лежат в реанимации больницы уже больше 3 дней</a:t>
            </a:r>
            <a:r>
              <a:rPr lang="en-US" dirty="0"/>
              <a:t>. 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D35A6AE-3542-9B26-69D8-A3D7F9909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932" y="2899303"/>
            <a:ext cx="2010750" cy="141666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FB7713D-E7F2-3FD0-5FDF-3ABCABDBF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36" y="3143250"/>
            <a:ext cx="6448714" cy="15686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43FA7CF-1C4B-FEA6-E3DB-A6B03A56829A}"/>
              </a:ext>
            </a:extLst>
          </p:cNvPr>
          <p:cNvSpPr txBox="1"/>
          <p:nvPr/>
        </p:nvSpPr>
        <p:spPr>
          <a:xfrm>
            <a:off x="7399931" y="4519749"/>
            <a:ext cx="160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приложение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A2B89328-70C6-6FEC-8D41-57FC1B91F80C}"/>
              </a:ext>
            </a:extLst>
          </p:cNvPr>
          <p:cNvCxnSpPr>
            <a:stCxn id="6" idx="3"/>
          </p:cNvCxnSpPr>
          <p:nvPr/>
        </p:nvCxnSpPr>
        <p:spPr>
          <a:xfrm>
            <a:off x="9410682" y="3607636"/>
            <a:ext cx="726095" cy="354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FC18EC86-F4D4-AC90-BA27-277F7A10FC85}"/>
              </a:ext>
            </a:extLst>
          </p:cNvPr>
          <p:cNvCxnSpPr>
            <a:stCxn id="11" idx="3"/>
          </p:cNvCxnSpPr>
          <p:nvPr/>
        </p:nvCxnSpPr>
        <p:spPr>
          <a:xfrm flipV="1">
            <a:off x="9004662" y="4162697"/>
            <a:ext cx="1132115" cy="541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Цилиндр 15">
            <a:extLst>
              <a:ext uri="{FF2B5EF4-FFF2-40B4-BE49-F238E27FC236}">
                <a16:creationId xmlns:a16="http://schemas.microsoft.com/office/drawing/2014/main" id="{C4EC76F4-0828-A204-FF03-AAE5DFC9D0E7}"/>
              </a:ext>
            </a:extLst>
          </p:cNvPr>
          <p:cNvSpPr/>
          <p:nvPr/>
        </p:nvSpPr>
        <p:spPr>
          <a:xfrm>
            <a:off x="10284823" y="3607636"/>
            <a:ext cx="391886" cy="70833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FB6291-EC1C-4862-D5F2-1B2CFB69C791}"/>
              </a:ext>
            </a:extLst>
          </p:cNvPr>
          <p:cNvSpPr txBox="1"/>
          <p:nvPr/>
        </p:nvSpPr>
        <p:spPr>
          <a:xfrm>
            <a:off x="9292047" y="2473234"/>
            <a:ext cx="2620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Электронное хранилище всех данных больницы</a:t>
            </a:r>
          </a:p>
        </p:txBody>
      </p:sp>
    </p:spTree>
    <p:extLst>
      <p:ext uri="{BB962C8B-B14F-4D97-AF65-F5344CB8AC3E}">
        <p14:creationId xmlns:p14="http://schemas.microsoft.com/office/powerpoint/2010/main" val="3402942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286B4A-E25E-4643-D710-F964FA712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данных из медицины за год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8317830-FBBF-809D-6F0A-E232C7E4C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221" y="1690688"/>
            <a:ext cx="4713558" cy="398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397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B414C1-CB49-7803-12C0-44A362172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Данные в хранилище хранят в специальных файлах…</a:t>
            </a:r>
            <a:r>
              <a:rPr lang="en-US" dirty="0"/>
              <a:t>.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A89AAA-2F75-837E-6011-DD53E3E05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843" y="2100511"/>
            <a:ext cx="3897816" cy="3609089"/>
          </a:xfrm>
          <a:prstGeom prst="rect">
            <a:avLst/>
          </a:prstGeom>
        </p:spPr>
      </p:pic>
      <p:sp>
        <p:nvSpPr>
          <p:cNvPr id="7" name="Цилиндр 6">
            <a:extLst>
              <a:ext uri="{FF2B5EF4-FFF2-40B4-BE49-F238E27FC236}">
                <a16:creationId xmlns:a16="http://schemas.microsoft.com/office/drawing/2014/main" id="{4563569A-DC07-E11A-6598-9412547D8782}"/>
              </a:ext>
            </a:extLst>
          </p:cNvPr>
          <p:cNvSpPr/>
          <p:nvPr/>
        </p:nvSpPr>
        <p:spPr>
          <a:xfrm>
            <a:off x="7694341" y="2048377"/>
            <a:ext cx="1449659" cy="371335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трелка вправо 7">
            <a:extLst>
              <a:ext uri="{FF2B5EF4-FFF2-40B4-BE49-F238E27FC236}">
                <a16:creationId xmlns:a16="http://schemas.microsoft.com/office/drawing/2014/main" id="{14DBD678-D2B5-D29F-2086-A8D4D8E5AC67}"/>
              </a:ext>
            </a:extLst>
          </p:cNvPr>
          <p:cNvSpPr/>
          <p:nvPr/>
        </p:nvSpPr>
        <p:spPr>
          <a:xfrm>
            <a:off x="5553307" y="3791415"/>
            <a:ext cx="1918010" cy="2341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ED4A19-7A2A-9242-19DE-90D6005C0569}"/>
              </a:ext>
            </a:extLst>
          </p:cNvPr>
          <p:cNvSpPr txBox="1"/>
          <p:nvPr/>
        </p:nvSpPr>
        <p:spPr>
          <a:xfrm>
            <a:off x="9590049" y="2430966"/>
            <a:ext cx="1918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Файл с данными (информация)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BD478E-3766-20B9-8FCD-877F15E52CCC}"/>
              </a:ext>
            </a:extLst>
          </p:cNvPr>
          <p:cNvSpPr txBox="1"/>
          <p:nvPr/>
        </p:nvSpPr>
        <p:spPr>
          <a:xfrm>
            <a:off x="9550554" y="4027289"/>
            <a:ext cx="20741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Файл с индексами</a:t>
            </a:r>
          </a:p>
          <a:p>
            <a:r>
              <a:rPr lang="ru-RU" dirty="0"/>
              <a:t>(для выполнения запросов пользователя информацию нужно искать</a:t>
            </a:r>
            <a:r>
              <a:rPr lang="en-US" dirty="0"/>
              <a:t>, </a:t>
            </a:r>
            <a:r>
              <a:rPr lang="ru-RU" dirty="0"/>
              <a:t>поэтому придумали такие файлы)</a:t>
            </a:r>
          </a:p>
        </p:txBody>
      </p:sp>
      <p:sp>
        <p:nvSpPr>
          <p:cNvPr id="13" name="Стрелка вправо 12">
            <a:extLst>
              <a:ext uri="{FF2B5EF4-FFF2-40B4-BE49-F238E27FC236}">
                <a16:creationId xmlns:a16="http://schemas.microsoft.com/office/drawing/2014/main" id="{BF2F3F8D-ABC6-62FE-D4AB-616A994D9A5C}"/>
              </a:ext>
            </a:extLst>
          </p:cNvPr>
          <p:cNvSpPr/>
          <p:nvPr/>
        </p:nvSpPr>
        <p:spPr>
          <a:xfrm>
            <a:off x="9222059" y="2430966"/>
            <a:ext cx="278780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 вправо 13">
            <a:extLst>
              <a:ext uri="{FF2B5EF4-FFF2-40B4-BE49-F238E27FC236}">
                <a16:creationId xmlns:a16="http://schemas.microsoft.com/office/drawing/2014/main" id="{DE21E73D-991C-57B3-B3D0-B8920EB9AF41}"/>
              </a:ext>
            </a:extLst>
          </p:cNvPr>
          <p:cNvSpPr/>
          <p:nvPr/>
        </p:nvSpPr>
        <p:spPr>
          <a:xfrm>
            <a:off x="9222059" y="4460488"/>
            <a:ext cx="278780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314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A50573-2423-8484-0CA0-C67AA6E6B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709"/>
            <a:ext cx="12351895" cy="1325563"/>
          </a:xfrm>
        </p:spPr>
        <p:txBody>
          <a:bodyPr/>
          <a:lstStyle/>
          <a:p>
            <a:r>
              <a:rPr lang="ru-RU" dirty="0"/>
              <a:t>Логическая Модель данных (примеры)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41F33B0-A513-E40B-E1C0-07B68F55A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3" y="1342532"/>
            <a:ext cx="7772400" cy="208646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17A5245-45E8-E275-A309-2A9BFB23E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490" y="4152366"/>
            <a:ext cx="7772400" cy="197504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0AA72EF-D8FC-00A0-01BE-07F8B11747CF}"/>
              </a:ext>
            </a:extLst>
          </p:cNvPr>
          <p:cNvSpPr txBox="1"/>
          <p:nvPr/>
        </p:nvSpPr>
        <p:spPr>
          <a:xfrm>
            <a:off x="618309" y="1522414"/>
            <a:ext cx="169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Модель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F89477-B6B2-D023-2660-D0D2B6D2D906}"/>
              </a:ext>
            </a:extLst>
          </p:cNvPr>
          <p:cNvSpPr txBox="1"/>
          <p:nvPr/>
        </p:nvSpPr>
        <p:spPr>
          <a:xfrm>
            <a:off x="9113519" y="4413432"/>
            <a:ext cx="169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Модель 2</a:t>
            </a:r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2C919717-56C2-A483-C8A9-4FEB3A3E2301}"/>
              </a:ext>
            </a:extLst>
          </p:cNvPr>
          <p:cNvCxnSpPr>
            <a:cxnSpLocks/>
          </p:cNvCxnSpPr>
          <p:nvPr/>
        </p:nvCxnSpPr>
        <p:spPr>
          <a:xfrm flipH="1">
            <a:off x="4441371" y="2368731"/>
            <a:ext cx="50074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ADDE48D-906E-8A1C-CE04-DBECEFCFBB33}"/>
              </a:ext>
            </a:extLst>
          </p:cNvPr>
          <p:cNvSpPr txBox="1"/>
          <p:nvPr/>
        </p:nvSpPr>
        <p:spPr>
          <a:xfrm>
            <a:off x="9544594" y="2151017"/>
            <a:ext cx="23251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Показывает </a:t>
            </a:r>
            <a:r>
              <a:rPr lang="ru-RU" sz="2000" b="1" dirty="0">
                <a:solidFill>
                  <a:srgbClr val="C00000"/>
                </a:solidFill>
              </a:rPr>
              <a:t>СВЯЗЬ</a:t>
            </a:r>
          </a:p>
        </p:txBody>
      </p:sp>
    </p:spTree>
    <p:extLst>
      <p:ext uri="{BB962C8B-B14F-4D97-AF65-F5344CB8AC3E}">
        <p14:creationId xmlns:p14="http://schemas.microsoft.com/office/powerpoint/2010/main" val="3936392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B82E86-0415-68AB-28DA-ECEAD30DA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297" y="-200297"/>
            <a:ext cx="8192589" cy="1325563"/>
          </a:xfrm>
        </p:spPr>
        <p:txBody>
          <a:bodyPr/>
          <a:lstStyle/>
          <a:p>
            <a:r>
              <a:rPr lang="ru-RU" dirty="0"/>
              <a:t>Отображение модели на данные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9CD4509-FF0B-8E77-1C6D-C1A4A1CF4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4692"/>
            <a:ext cx="6592389" cy="194234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09C4A89-F3EC-E385-9FE4-9D6641F39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534" y="2987038"/>
            <a:ext cx="7772400" cy="38709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F3A1C78-E046-CB6B-C0EA-0D83153B1B07}"/>
              </a:ext>
            </a:extLst>
          </p:cNvPr>
          <p:cNvSpPr txBox="1"/>
          <p:nvPr/>
        </p:nvSpPr>
        <p:spPr>
          <a:xfrm>
            <a:off x="89263" y="860026"/>
            <a:ext cx="127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Модель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4DA462-FCCB-970E-C400-E278283A52D1}"/>
              </a:ext>
            </a:extLst>
          </p:cNvPr>
          <p:cNvSpPr txBox="1"/>
          <p:nvPr/>
        </p:nvSpPr>
        <p:spPr>
          <a:xfrm>
            <a:off x="8473440" y="2699657"/>
            <a:ext cx="2481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Данные по модели 3</a:t>
            </a:r>
          </a:p>
        </p:txBody>
      </p:sp>
    </p:spTree>
    <p:extLst>
      <p:ext uri="{BB962C8B-B14F-4D97-AF65-F5344CB8AC3E}">
        <p14:creationId xmlns:p14="http://schemas.microsoft.com/office/powerpoint/2010/main" val="1722696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29C532-5AC6-6BF7-0BA3-C9106F75584E}"/>
              </a:ext>
            </a:extLst>
          </p:cNvPr>
          <p:cNvSpPr txBox="1"/>
          <p:nvPr/>
        </p:nvSpPr>
        <p:spPr>
          <a:xfrm>
            <a:off x="6498236" y="1166842"/>
            <a:ext cx="610099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┌─────────────────────────────────────┐</a:t>
            </a:r>
          </a:p>
          <a:p>
            <a:r>
              <a:rPr lang="ru-RU" dirty="0"/>
              <a:t>│ Адрес 0x100:                        │</a:t>
            </a:r>
          </a:p>
          <a:p>
            <a:r>
              <a:rPr lang="ru-RU" dirty="0"/>
              <a:t>│ [145 | Бет Литл | ptr→0x200]       │ ← Корень</a:t>
            </a:r>
          </a:p>
          <a:p>
            <a:r>
              <a:rPr lang="ru-RU" dirty="0"/>
              <a:t>└─────────────────────────────────────┘</a:t>
            </a:r>
          </a:p>
          <a:p>
            <a:r>
              <a:rPr lang="ru-RU" dirty="0"/>
              <a:t>              ↓</a:t>
            </a:r>
          </a:p>
          <a:p>
            <a:r>
              <a:rPr lang="ru-RU" dirty="0"/>
              <a:t>┌─────────────────────────────────────┐</a:t>
            </a:r>
          </a:p>
          <a:p>
            <a:r>
              <a:rPr lang="ru-RU" dirty="0"/>
              <a:t>│ Адрес 0x200:                        │</a:t>
            </a:r>
          </a:p>
          <a:p>
            <a:r>
              <a:rPr lang="ru-RU" dirty="0"/>
              <a:t>│ [01 01 77 | ptr→0x300]             │ ← Дата 1</a:t>
            </a:r>
          </a:p>
          <a:p>
            <a:r>
              <a:rPr lang="ru-RU" dirty="0"/>
              <a:t>│ [10 05 77 | ptr→0x400]             │ ← Дата 2</a:t>
            </a:r>
          </a:p>
          <a:p>
            <a:r>
              <a:rPr lang="ru-RU" dirty="0"/>
              <a:t>│ [05 11 77 | ptr→0x500]             │ ← Дата 3</a:t>
            </a:r>
          </a:p>
          <a:p>
            <a:r>
              <a:rPr lang="ru-RU" dirty="0"/>
              <a:t>└─────────────────────────────────────┘</a:t>
            </a:r>
          </a:p>
          <a:p>
            <a:r>
              <a:rPr lang="ru-RU" dirty="0"/>
              <a:t>              ↓</a:t>
            </a:r>
          </a:p>
          <a:p>
            <a:r>
              <a:rPr lang="ru-RU" dirty="0"/>
              <a:t>┌─────────────────────────────────────┐</a:t>
            </a:r>
          </a:p>
          <a:p>
            <a:r>
              <a:rPr lang="ru-RU" dirty="0"/>
              <a:t>│ Адрес 0x300:                        │</a:t>
            </a:r>
          </a:p>
          <a:p>
            <a:r>
              <a:rPr lang="ru-RU" dirty="0"/>
              <a:t>│ [4876 | </a:t>
            </a:r>
            <a:r>
              <a:rPr lang="ru-RU" dirty="0" err="1"/>
              <a:t>Хол</a:t>
            </a:r>
            <a:r>
              <a:rPr lang="ru-RU" dirty="0"/>
              <a:t> Кейн | ptr→0x600]       │ ← Данные визита</a:t>
            </a:r>
          </a:p>
          <a:p>
            <a:r>
              <a:rPr lang="ru-RU" dirty="0"/>
              <a:t>└─────────────────────────────────────┘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D129090-5F8B-A3F6-E1BC-D68DC64B3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9548" y="1903750"/>
            <a:ext cx="7389145" cy="36800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17290D-03CB-7CEA-5D3B-849FF7922A0F}"/>
              </a:ext>
            </a:extLst>
          </p:cNvPr>
          <p:cNvSpPr txBox="1"/>
          <p:nvPr/>
        </p:nvSpPr>
        <p:spPr>
          <a:xfrm>
            <a:off x="1297577" y="226423"/>
            <a:ext cx="8708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C00000"/>
                </a:solidFill>
              </a:rPr>
              <a:t>Связь</a:t>
            </a:r>
            <a:r>
              <a:rPr lang="ru-RU" dirty="0">
                <a:solidFill>
                  <a:srgbClr val="C00000"/>
                </a:solidFill>
              </a:rPr>
              <a:t> реализуется через указание номера ячейки памяти (=указатель)</a:t>
            </a:r>
          </a:p>
        </p:txBody>
      </p:sp>
    </p:spTree>
    <p:extLst>
      <p:ext uri="{BB962C8B-B14F-4D97-AF65-F5344CB8AC3E}">
        <p14:creationId xmlns:p14="http://schemas.microsoft.com/office/powerpoint/2010/main" val="2802978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88FCEF-6567-EEE2-0C17-58192CC90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1252"/>
            <a:ext cx="6312108" cy="1847410"/>
          </a:xfrm>
        </p:spPr>
        <p:txBody>
          <a:bodyPr>
            <a:normAutofit fontScale="90000"/>
          </a:bodyPr>
          <a:lstStyle/>
          <a:p>
            <a:r>
              <a:rPr lang="ru-RU" dirty="0"/>
              <a:t>Данные организованы аналогично </a:t>
            </a:r>
            <a:br>
              <a:rPr lang="ru-RU" dirty="0"/>
            </a:br>
            <a:r>
              <a:rPr lang="ru-RU" dirty="0"/>
              <a:t>перевернутому дереву</a:t>
            </a:r>
            <a:br>
              <a:rPr lang="ru-RU" dirty="0"/>
            </a:br>
            <a:r>
              <a:rPr lang="ru-RU" dirty="0"/>
              <a:t>(корень вверху)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348F320A-6B6D-27D0-1C73-B0A5FB32C2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39842" y="2506662"/>
            <a:ext cx="7150188" cy="435133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D5ADBF4-4529-3978-B541-CAFDAF274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674" y="191252"/>
            <a:ext cx="7018729" cy="290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133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348F17-E87A-CB34-2EF8-5599DD65B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r>
              <a:rPr lang="ru-RU" dirty="0"/>
              <a:t>Запрос к хранилищу данных в электронном виде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7F5DD0-2E74-1BF5-D3E8-7D1DDF255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90688"/>
            <a:ext cx="7772400" cy="35404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93BAC9-58AE-3C2D-63CE-7D8A8946CF82}"/>
              </a:ext>
            </a:extLst>
          </p:cNvPr>
          <p:cNvSpPr txBox="1"/>
          <p:nvPr/>
        </p:nvSpPr>
        <p:spPr>
          <a:xfrm>
            <a:off x="757645" y="5538651"/>
            <a:ext cx="9492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случае с пациентами – если задавать вопросы к моделям выше</a:t>
            </a:r>
            <a:r>
              <a:rPr lang="en-US" dirty="0"/>
              <a:t>, </a:t>
            </a:r>
            <a:r>
              <a:rPr lang="en-US" dirty="0" err="1"/>
              <a:t>т</a:t>
            </a:r>
            <a:r>
              <a:rPr lang="ru-RU" dirty="0"/>
              <a:t>о можно ли узнать группу крови пациента</a:t>
            </a:r>
            <a:r>
              <a:rPr lang="en-US" dirty="0"/>
              <a:t>, </a:t>
            </a:r>
            <a:r>
              <a:rPr lang="ru-RU" dirty="0"/>
              <a:t>как хотел главный врач? Кто виноват в этом?</a:t>
            </a:r>
          </a:p>
        </p:txBody>
      </p:sp>
    </p:spTree>
    <p:extLst>
      <p:ext uri="{BB962C8B-B14F-4D97-AF65-F5344CB8AC3E}">
        <p14:creationId xmlns:p14="http://schemas.microsoft.com/office/powerpoint/2010/main" val="2332818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741FE-62CD-AC79-6391-872BBDEE8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 иерархической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824E8E-2478-1EC6-DCA6-0AA4C9D12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Корневой тип узла является главным. Доступ к любому порожденному узлу возможен только через исходный.</a:t>
            </a:r>
          </a:p>
          <a:p>
            <a:r>
              <a:rPr lang="ru-RU" dirty="0"/>
              <a:t>Удаление исходных объектов влечет удаление порожденных. Поэтому выполнение операции УДАЛИТЬ требует особой осторожности.</a:t>
            </a:r>
          </a:p>
          <a:p>
            <a:r>
              <a:rPr lang="ru-RU" dirty="0"/>
              <a:t>При этом может потребоваться хранение избыточных данных. Однако на физическом уровне избыточность нежелательна.</a:t>
            </a:r>
          </a:p>
        </p:txBody>
      </p:sp>
    </p:spTree>
    <p:extLst>
      <p:ext uri="{BB962C8B-B14F-4D97-AF65-F5344CB8AC3E}">
        <p14:creationId xmlns:p14="http://schemas.microsoft.com/office/powerpoint/2010/main" val="920192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BBF66C-F2E8-31EC-69DD-37E2E110C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8060"/>
            <a:ext cx="10515600" cy="1325563"/>
          </a:xfrm>
        </p:spPr>
        <p:txBody>
          <a:bodyPr/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E1146B-2302-C498-8C0D-51B93A873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4380"/>
            <a:ext cx="10515600" cy="5786203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Придумать самостоятельно данные о хирурге</a:t>
            </a:r>
            <a:r>
              <a:rPr lang="en-US" dirty="0"/>
              <a:t>, </a:t>
            </a:r>
            <a:r>
              <a:rPr lang="ru-RU" dirty="0"/>
              <a:t>пациенте, операции и лекарстве согласно модели ниже</a:t>
            </a:r>
            <a:r>
              <a:rPr lang="en-US" dirty="0"/>
              <a:t>. </a:t>
            </a:r>
          </a:p>
          <a:p>
            <a:r>
              <a:rPr lang="ru-RU" dirty="0"/>
              <a:t>Нарисовать модель данных</a:t>
            </a:r>
            <a:r>
              <a:rPr lang="en-US" dirty="0"/>
              <a:t> </a:t>
            </a:r>
            <a:r>
              <a:rPr lang="ru-RU" dirty="0"/>
              <a:t> в </a:t>
            </a:r>
            <a:r>
              <a:rPr lang="en-US" dirty="0" err="1"/>
              <a:t>draw.io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Модель экспортировать из </a:t>
            </a:r>
            <a:r>
              <a:rPr lang="en-US" dirty="0" err="1"/>
              <a:t>draw.io</a:t>
            </a:r>
            <a:r>
              <a:rPr lang="en-US" dirty="0"/>
              <a:t> (</a:t>
            </a:r>
            <a:r>
              <a:rPr lang="ru-RU" dirty="0"/>
              <a:t>файл/экспортировать как/</a:t>
            </a:r>
            <a:r>
              <a:rPr lang="en-US" dirty="0" err="1"/>
              <a:t>png</a:t>
            </a:r>
            <a:r>
              <a:rPr lang="en-US" dirty="0"/>
              <a:t>)</a:t>
            </a:r>
          </a:p>
          <a:p>
            <a:r>
              <a:rPr lang="ru-RU" dirty="0"/>
              <a:t>Картинку выложить на сайт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810FB0-82E7-0C7C-11EA-671B25AC9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157" y="2011213"/>
            <a:ext cx="7772400" cy="365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1006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335</Words>
  <Application>Microsoft Macintosh PowerPoint</Application>
  <PresentationFormat>Широкоэкранный</PresentationFormat>
  <Paragraphs>55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База данных</vt:lpstr>
      <vt:lpstr>Пусть главный врач хочет срочно узнать группу крови каждого из пациентов, которые лежат в реанимации больницы уже больше 3 дней. </vt:lpstr>
      <vt:lpstr>Пример данных из медицины за год </vt:lpstr>
      <vt:lpstr>Данные в хранилище хранят в специальных файлах….</vt:lpstr>
      <vt:lpstr>Логическая Модель данных (примеры)</vt:lpstr>
      <vt:lpstr>Отображение модели на данные </vt:lpstr>
      <vt:lpstr>Презентация PowerPoint</vt:lpstr>
      <vt:lpstr>Данные организованы аналогично  перевернутому дереву (корень вверху)</vt:lpstr>
      <vt:lpstr>Запрос к хранилищу данных в электронном виде</vt:lpstr>
      <vt:lpstr>Недостатки иерархической модели</vt:lpstr>
      <vt:lpstr>Задание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База данных</dc:title>
  <dc:creator>Елена Демидова</dc:creator>
  <cp:lastModifiedBy>Елена Демидова</cp:lastModifiedBy>
  <cp:revision>32</cp:revision>
  <dcterms:created xsi:type="dcterms:W3CDTF">2026-04-03T07:13:01Z</dcterms:created>
  <dcterms:modified xsi:type="dcterms:W3CDTF">2026-04-03T17:25:49Z</dcterms:modified>
</cp:coreProperties>
</file>